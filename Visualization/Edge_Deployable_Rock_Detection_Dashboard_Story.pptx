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37"/>
  </p:normalViewPr>
  <p:slideViewPr>
    <p:cSldViewPr snapToGrid="0" snapToObjects="1">
      <p:cViewPr varScale="1">
        <p:scale>
          <a:sx n="147" d="100"/>
          <a:sy n="147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_MASTER"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70CAD6-30AB-43A2-9F78-F92349DC3765}"/>
              </a:ext>
            </a:extLst>
          </p:cNvPr>
          <p:cNvSpPr>
            <a:spLocks noGrp="1"/>
          </p:cNvSpPr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5240">
            <a:solidFill>
              <a:srgbClr val="F58220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C880B09-69AB-400B-940A-7D386CDF358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7BB3D36-EF2B-426D-81F9-1ED8CDDE4E0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327BAA-8D09-445E-A1BB-77D4A67F19A0}"/>
              </a:ext>
            </a:extLst>
          </p:cNvPr>
          <p:cNvSpPr>
            <a:spLocks noGrp="1"/>
          </p:cNvSpPr>
          <p:nvPr/>
        </p:nvSpPr>
        <p:spPr>
          <a:xfrm>
            <a:off x="658368" y="502920"/>
            <a:ext cx="91440" cy="54406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08C8F6-4A8F-4163-BE3C-338B6A4DF951}"/>
              </a:ext>
            </a:extLst>
          </p:cNvPr>
          <p:cNvSpPr>
            <a:spLocks noGrp="1"/>
          </p:cNvSpPr>
          <p:nvPr/>
        </p:nvSpPr>
        <p:spPr>
          <a:xfrm>
            <a:off x="1051560" y="1097280"/>
            <a:ext cx="9875520" cy="68580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4400" b="1" dirty="0">
                <a:solidFill>
                  <a:srgbClr val="B94F00"/>
                </a:solidFill>
                <a:latin typeface="Aptos Display"/>
                <a:ea typeface="Aptos Display"/>
                <a:cs typeface="Aptos Display"/>
              </a:rPr>
              <a:t>Edge</a:t>
            </a:r>
            <a:r>
              <a:rPr lang="en-US" sz="4400" b="1" dirty="0">
                <a:solidFill>
                  <a:srgbClr val="B94F00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4400" b="1" dirty="0">
                <a:solidFill>
                  <a:srgbClr val="B94F00"/>
                </a:solidFill>
                <a:latin typeface="Aptos Display"/>
                <a:ea typeface="Aptos Display"/>
                <a:cs typeface="Aptos Display"/>
              </a:rPr>
              <a:t>Deployable</a:t>
            </a:r>
            <a:endParaRPr sz="4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C6B5F2-00A5-4FED-9A52-78D166F6F38F}"/>
              </a:ext>
            </a:extLst>
          </p:cNvPr>
          <p:cNvSpPr>
            <a:spLocks noGrp="1"/>
          </p:cNvSpPr>
          <p:nvPr/>
        </p:nvSpPr>
        <p:spPr>
          <a:xfrm>
            <a:off x="1051560" y="1874520"/>
            <a:ext cx="9875520" cy="65836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4200" b="1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Rock Detection and</a:t>
            </a:r>
            <a:endParaRPr sz="4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F0F015-AE27-4976-8358-7507C8BFBD2B}"/>
              </a:ext>
            </a:extLst>
          </p:cNvPr>
          <p:cNvSpPr>
            <a:spLocks noGrp="1"/>
          </p:cNvSpPr>
          <p:nvPr/>
        </p:nvSpPr>
        <p:spPr>
          <a:xfrm>
            <a:off x="1051560" y="2651760"/>
            <a:ext cx="9875520" cy="65836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4200" b="1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Burial-Status</a:t>
            </a:r>
            <a:endParaRPr sz="4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3EE6F50-6D40-4305-A3CD-F02265AA58BE}"/>
              </a:ext>
            </a:extLst>
          </p:cNvPr>
          <p:cNvSpPr>
            <a:spLocks noGrp="1"/>
          </p:cNvSpPr>
          <p:nvPr/>
        </p:nvSpPr>
        <p:spPr>
          <a:xfrm>
            <a:off x="1051560" y="3429000"/>
            <a:ext cx="9875520" cy="65836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4200" b="1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Classification</a:t>
            </a:r>
            <a:endParaRPr sz="4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31716FB-AD58-473A-97B2-29B6F72A6DE9}"/>
              </a:ext>
            </a:extLst>
          </p:cNvPr>
          <p:cNvSpPr>
            <a:spLocks noGrp="1"/>
          </p:cNvSpPr>
          <p:nvPr/>
        </p:nvSpPr>
        <p:spPr>
          <a:xfrm>
            <a:off x="1078992" y="4709160"/>
            <a:ext cx="9601200" cy="32004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1550">
                <a:solidFill>
                  <a:srgbClr val="6F6258"/>
                </a:solidFill>
              </a:rPr>
              <a:t>YOLO model evaluation • Raspberry Pi 5 edge deployment • Tableau dashboard story</a:t>
            </a:r>
            <a:endParaRPr sz="15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24595B-7659-4EC9-AF41-3823128DD433}"/>
              </a:ext>
            </a:extLst>
          </p:cNvPr>
          <p:cNvSpPr>
            <a:spLocks noGrp="1"/>
          </p:cNvSpPr>
          <p:nvPr/>
        </p:nvSpPr>
        <p:spPr>
          <a:xfrm>
            <a:off x="1078992" y="5166360"/>
            <a:ext cx="9601200" cy="292608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16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D9FB979-F830-4FCD-9444-AEEEC34A69D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48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02036BF-C295-45D1-9E6F-BDD8E6D50F33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B81C48-8F9F-4521-8BD9-2F2A4D0A919F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From Jupyter Notebook to Tableau Dashboard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D10E18-993A-4BB8-BEF9-14E283AEE62D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8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F6E204-9FB4-4236-995C-B628B92C46AB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6949440" cy="105156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lnSpcReduction="10000"/>
          </a:bodyPr>
          <a:lstStyle/>
          <a:p>
            <a:pPr marL="0" indent="0">
              <a:buNone/>
            </a:pPr>
            <a:r>
              <a:rPr sz="1900" dirty="0">
                <a:solidFill>
                  <a:srgbClr val="2B2118"/>
                </a:solidFill>
              </a:rPr>
              <a:t>The original project contained model-training outputs, exported YOLO formats, and Raspberry Pi edge-deployment benchmark logs. The dashboard turns those technical details into a visual story that a non-technical reviewer can follow.</a:t>
            </a:r>
            <a:endParaRPr sz="1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889988-19CD-4397-8E4E-33FB6D5EE1AE}"/>
              </a:ext>
            </a:extLst>
          </p:cNvPr>
          <p:cNvSpPr>
            <a:spLocks noGrp="1"/>
          </p:cNvSpPr>
          <p:nvPr/>
        </p:nvSpPr>
        <p:spPr>
          <a:xfrm>
            <a:off x="713232" y="2761488"/>
            <a:ext cx="6812280" cy="141732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600" b="1" dirty="0">
                <a:solidFill>
                  <a:srgbClr val="B94F00"/>
                </a:solidFill>
              </a:rPr>
              <a:t>1  Dataset readiness</a:t>
            </a:r>
            <a:r>
              <a:rPr sz="1600" dirty="0">
                <a:solidFill>
                  <a:srgbClr val="2B2118"/>
                </a:solidFill>
              </a:rPr>
              <a:t>  → split, class balance, augmentation, KPIs</a:t>
            </a:r>
            <a:endParaRPr lang="en-US" sz="1600" dirty="0">
              <a:solidFill>
                <a:srgbClr val="2B2118"/>
              </a:solidFill>
            </a:endParaRPr>
          </a:p>
          <a:p>
            <a:pPr marL="0" indent="0">
              <a:buNone/>
            </a:pPr>
            <a:r>
              <a:rPr sz="1600" dirty="0">
                <a:solidFill>
                  <a:srgbClr val="2B2118"/>
                </a:solidFill>
              </a:rPr>
              <a:t>
</a:t>
            </a:r>
            <a:r>
              <a:rPr sz="1600" b="1" dirty="0">
                <a:solidFill>
                  <a:srgbClr val="B94F00"/>
                </a:solidFill>
              </a:rPr>
              <a:t>2  Detector selection</a:t>
            </a:r>
            <a:r>
              <a:rPr sz="1600" dirty="0">
                <a:solidFill>
                  <a:srgbClr val="2B2118"/>
                </a:solidFill>
              </a:rPr>
              <a:t>  → precision, recall, </a:t>
            </a:r>
            <a:r>
              <a:rPr sz="1600" dirty="0" err="1">
                <a:solidFill>
                  <a:srgbClr val="2B2118"/>
                </a:solidFill>
              </a:rPr>
              <a:t>mAP</a:t>
            </a:r>
            <a:r>
              <a:rPr sz="1600" dirty="0">
                <a:solidFill>
                  <a:srgbClr val="2B2118"/>
                </a:solidFill>
              </a:rPr>
              <a:t>, model efficiency</a:t>
            </a:r>
            <a:endParaRPr lang="en-US" sz="1600" dirty="0">
              <a:solidFill>
                <a:srgbClr val="2B2118"/>
              </a:solidFill>
            </a:endParaRPr>
          </a:p>
          <a:p>
            <a:pPr marL="0" indent="0">
              <a:buNone/>
            </a:pPr>
            <a:r>
              <a:rPr sz="1600" dirty="0">
                <a:solidFill>
                  <a:srgbClr val="2B2118"/>
                </a:solidFill>
              </a:rPr>
              <a:t>
</a:t>
            </a:r>
            <a:r>
              <a:rPr sz="1600" b="1" dirty="0">
                <a:solidFill>
                  <a:srgbClr val="B94F00"/>
                </a:solidFill>
              </a:rPr>
              <a:t>3  Edge deployment choice</a:t>
            </a:r>
            <a:r>
              <a:rPr sz="1600" dirty="0">
                <a:solidFill>
                  <a:srgbClr val="2B2118"/>
                </a:solidFill>
              </a:rPr>
              <a:t>  → speed, latency, resources, thermals, stability</a:t>
            </a:r>
            <a:endParaRPr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E9FEF09-24A5-4400-B48E-B5914C0FCCAF}"/>
              </a:ext>
            </a:extLst>
          </p:cNvPr>
          <p:cNvSpPr>
            <a:spLocks noGrp="1"/>
          </p:cNvSpPr>
          <p:nvPr/>
        </p:nvSpPr>
        <p:spPr>
          <a:xfrm>
            <a:off x="7818120" y="1280160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E17EC16-A9E2-4B72-BB6E-77AF48A83266}"/>
              </a:ext>
            </a:extLst>
          </p:cNvPr>
          <p:cNvSpPr>
            <a:spLocks noGrp="1"/>
          </p:cNvSpPr>
          <p:nvPr/>
        </p:nvSpPr>
        <p:spPr>
          <a:xfrm>
            <a:off x="8028432" y="149047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FFFFFF"/>
                </a:solidFill>
              </a:rPr>
              <a:t>Jupyter Notebook</a:t>
            </a:r>
            <a:endParaRPr sz="17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DF9159-5888-4F5E-9EF1-A81CF5DB2746}"/>
              </a:ext>
            </a:extLst>
          </p:cNvPr>
          <p:cNvSpPr>
            <a:spLocks noGrp="1"/>
          </p:cNvSpPr>
          <p:nvPr/>
        </p:nvSpPr>
        <p:spPr>
          <a:xfrm>
            <a:off x="9235440" y="212140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B94F00"/>
                </a:solidFill>
              </a:rPr>
              <a:t>⇣</a:t>
            </a:r>
            <a:endParaRPr sz="22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EB67005-7774-4748-811C-C3943480472F}"/>
              </a:ext>
            </a:extLst>
          </p:cNvPr>
          <p:cNvSpPr>
            <a:spLocks noGrp="1"/>
          </p:cNvSpPr>
          <p:nvPr/>
        </p:nvSpPr>
        <p:spPr>
          <a:xfrm>
            <a:off x="7818120" y="2587752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A90940-D055-4A21-A515-06326174E695}"/>
              </a:ext>
            </a:extLst>
          </p:cNvPr>
          <p:cNvSpPr>
            <a:spLocks noGrp="1"/>
          </p:cNvSpPr>
          <p:nvPr/>
        </p:nvSpPr>
        <p:spPr>
          <a:xfrm>
            <a:off x="8028432" y="278892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B2118"/>
                </a:solidFill>
              </a:rPr>
              <a:t>Edge Testing</a:t>
            </a:r>
            <a:endParaRPr sz="17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1762E4-63C0-4224-8522-14F3F55C9C10}"/>
              </a:ext>
            </a:extLst>
          </p:cNvPr>
          <p:cNvSpPr>
            <a:spLocks noGrp="1"/>
          </p:cNvSpPr>
          <p:nvPr/>
        </p:nvSpPr>
        <p:spPr>
          <a:xfrm>
            <a:off x="9235440" y="3438144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200" b="1">
                <a:solidFill>
                  <a:srgbClr val="B94F00"/>
                </a:solidFill>
              </a:rPr>
              <a:t>⇣</a:t>
            </a:r>
            <a:endParaRPr sz="22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6DE1D0-AB55-4398-B33C-3229F3551576}"/>
              </a:ext>
            </a:extLst>
          </p:cNvPr>
          <p:cNvSpPr>
            <a:spLocks noGrp="1"/>
          </p:cNvSpPr>
          <p:nvPr/>
        </p:nvSpPr>
        <p:spPr>
          <a:xfrm>
            <a:off x="7818120" y="3904488"/>
            <a:ext cx="3611880" cy="749808"/>
          </a:xfrm>
          <a:prstGeom prst="roundRect">
            <a:avLst>
              <a:gd name="adj" fmla="val 8537"/>
            </a:avLst>
          </a:prstGeom>
          <a:solidFill>
            <a:srgbClr val="FFE3CB"/>
          </a:solidFill>
          <a:ln w="12700">
            <a:solidFill>
              <a:srgbClr val="FFE3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F4478BB-291F-499E-814A-2303DA76447C}"/>
              </a:ext>
            </a:extLst>
          </p:cNvPr>
          <p:cNvSpPr>
            <a:spLocks noGrp="1"/>
          </p:cNvSpPr>
          <p:nvPr/>
        </p:nvSpPr>
        <p:spPr>
          <a:xfrm>
            <a:off x="8028432" y="4105656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B94F00"/>
                </a:solidFill>
              </a:rPr>
              <a:t>Tableau Dashboard</a:t>
            </a:r>
            <a:endParaRPr sz="17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F71B08-EA16-4FE1-8EE8-149E8D82FC8D}"/>
              </a:ext>
            </a:extLst>
          </p:cNvPr>
          <p:cNvSpPr>
            <a:spLocks noGrp="1"/>
          </p:cNvSpPr>
          <p:nvPr/>
        </p:nvSpPr>
        <p:spPr>
          <a:xfrm>
            <a:off x="713232" y="5166360"/>
            <a:ext cx="10149840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endParaRPr sz="18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8DE9493-22A9-4E80-8177-E8839D9CEC53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5A4FD73-9938-4C24-9CD0-4853A5822D9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8471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1E18B8-AAE1-4A62-8EFA-670182DC64FC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3DA6D9-3B6B-4BBA-BAB5-9072CD928EA1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1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Dataset Split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2EE810-BCDE-4490-B866-588DC1AB4D09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DATA PREPARATION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4" y="1115568"/>
            <a:ext cx="6600831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14E8213F-808D-40C7-B175-23C9B444C6A5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A3A29EF-495F-4475-9F80-A6536A2D7324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9A2B303-472E-481D-ABE1-86C13ED535BD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DB7639F-EBF9-4E60-91DB-57D92AF97F85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Shows how images were separated before training.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Train: 313 images; Validation: 45 images; Test: 90 images.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The test set is kept separate so final results are not measured on training images.</a:t>
            </a:r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9A08ED1-F81C-41F7-9168-5AF2E4E623E3}"/>
              </a:ext>
            </a:extLst>
          </p:cNvPr>
          <p:cNvSpPr>
            <a:spLocks noGrp="1"/>
          </p:cNvSpPr>
          <p:nvPr/>
        </p:nvSpPr>
        <p:spPr>
          <a:xfrm>
            <a:off x="8430768" y="5404104"/>
            <a:ext cx="9144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68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50ECB4D-FA8C-4897-9D3D-602CD99D5804}"/>
              </a:ext>
            </a:extLst>
          </p:cNvPr>
          <p:cNvSpPr>
            <a:spLocks noGrp="1"/>
          </p:cNvSpPr>
          <p:nvPr/>
        </p:nvSpPr>
        <p:spPr>
          <a:xfrm>
            <a:off x="8430768" y="5577840"/>
            <a:ext cx="2880360" cy="310896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11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B22C763-AF45-442D-A92A-7E3070EC88C9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7AD2055-091B-460A-BA91-3E9AC2DAE65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654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F85989-3495-4B88-AF57-3ED73D6A4C3F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5F64B0-A6AA-4CD9-A67C-F757EDDB3368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2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Rock Burial Class Distribution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FA454E-F578-4065-809F-FF4E623B6E82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DATA PREPARATION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4" y="1115568"/>
            <a:ext cx="6600831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BD76BE52-F137-490B-B2D2-D1E1BF490457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09EAEA0-92C9-40C0-A477-918EACD7CEE5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B1EF500-AEBF-44B4-BC6A-B0C01500961A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D7CD78F-BD1B-48D9-A26A-B6F03EE83D5F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Tracks two burial-status classes: completely exposed and half buried.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Training objects are nearly balanced: 259 exposed and 250 half-buried.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Validation and test splits keep both classes represented.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3AF3687-5CD0-47DC-917E-5EEBFB83FBFD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14B23F5-0DAD-44E1-AF24-22401D8FEF3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440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A983A8-4E92-4A69-842F-3CCDE27B232D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3D328F-1BA9-4524-987C-624D122B4C69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3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Training Expansion Through Augmentation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969264B-6FED-49C2-9C40-0186D9B75D1D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DATA PREPARATION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10" y="1115568"/>
            <a:ext cx="6478499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8849E1CF-C707-498D-9CB9-DCE94B723102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9289E5A-5FB3-41B7-A4A7-99691BCC513C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74E642-19DB-4F53-ACA2-70AAA2F6D547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0ACD743-E72A-428C-AC52-6B4F871E7FFC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Starts with 313 original training images.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Augmentation adds 1,878 generated variations.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Final YOLO training set reaches 2,191 images.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19B9DA1-A0FF-43B6-9284-F14607CB5CE1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48430E7-38EE-426D-BABA-D9B55A2A5BC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887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64B53F-6D54-4716-951E-2DD0D26AEC79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015DDD-DFB6-4199-BA95-FADDEA7A601C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4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Dataset Summary KPIs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5A3E80-73C4-4DB4-B7A6-8099D4F34C8E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DATA PREPARATION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07" y="1115568"/>
            <a:ext cx="6647905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9F629659-A752-4AAB-B0AD-2D4A6CADDC0B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4AC8EBD-76BC-481D-8AD9-7EACC9F6327D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1FE9DC-4BAA-4366-9E91-8F4EB0F871C1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F38BBB6-FCE1-4EED-AE37-991785610089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Summarizes the entire dataset in three simple numbers.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448 total images and 706 labeled rock objects.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Only two classes are used, which keeps the task understandable.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35EAA85-A942-4302-AB63-A31D231D2876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B618781-4617-46B1-9589-037B647B38D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3361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0FF1D8-BC91-48A3-9D6B-C8945C1D923F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E4F999-BC85-4F76-BBEF-522B8D31B23B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5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YOLO Detection Performance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EC3281-0907-430B-8C51-4965F87B9835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MODEL COMPARISON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7" y="1115568"/>
            <a:ext cx="6483506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D8627902-4359-473D-8730-55E63C53EF1E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0C1D900-853B-4213-B932-EE759734F131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96CCFAF-646E-4F15-B720-1372B59EEB34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4CD1E83-A617-4645-9E09-81C8FCDF7C86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 lnSpcReduction="10000"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Compares precision, recall and F1 for each model and split.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YOLO11s gives strong validation recall, while test scores show generalization behavior.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F1 helps balance precision and recall into one review metric.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558B792-0FE6-4A70-B94C-670E035058FB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7289F30-995D-4420-9672-96133FDEC34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0267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405ADF-C40B-419F-A85C-908A2C3E8422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8C0A7B-B1B5-49F7-8FA5-1A6FBB1F9EAE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6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YOLO Detection Accuracy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59F951-D975-4178-8488-BDF220152105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MODEL COMPARISON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4" y="1115568"/>
            <a:ext cx="6600831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613FD96C-FF4A-46F0-B514-E861BFCCDB8B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9FEF65A-5577-4779-89A6-EC8384363E24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971666B-7E0D-4A2E-854F-41D99734AA91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A6BB02F-5C82-4E5C-859A-B5F8D32EBF26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Compares mAP50 and stricter mAP50-95 scores.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Validation mAP50 is strongest for YOLO11s, while test scores are lower across models.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The stricter mAP50-95 metric shows detection precision under tougher matching rules.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99637C6-802E-4E9C-81DF-F66B94050CA0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71F0651-C106-43E1-86AC-CF41BBA8F41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229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001ED8-3586-4444-8EC9-F85B95240567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0FFEC2-85C7-47C7-B9E7-CFFAC753F941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7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YOLO Model Efficiency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E0F1A5-BE18-43BD-80D4-B1E20E71D261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MODEL COMPARISON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10" y="1115568"/>
            <a:ext cx="6478499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0D3B4A42-7924-45DD-80B7-1D98C2ECF5B0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EC79C36-E844-4FC8-B554-0F26202D75ED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91F318F-C69C-4736-92EA-79E529E2BF7F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82A5B37-9293-4672-9996-D558CEBF39AD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Plots model size against median end-to-end FPS.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YOLOv8n stays compact while giving the fastest measured validation speed.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YOLO11s is much larger, so it is less attractive for edge deployment.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090CD66-B311-42A4-A880-72C74DAF49CF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59B83BB-A498-45D5-A49E-C686DE8265D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569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B340C0-726C-4256-B4F2-8CBD30EE2310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DC0799-07E8-4DE6-ACE4-6F69E85FCE7D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8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Final Detector Selection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FFDAF6-D1A8-4ABA-ADC3-EBAE356DF8BF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MODEL COMPARISON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4" y="1115568"/>
            <a:ext cx="6600831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147DE5A0-20F4-466E-B00F-AE45133575C1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BE3C102-B6CF-49B6-89B0-21BC3BECDC10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CD693EB-801E-4321-BB7B-437BAC9A623C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7F02569-5728-4C9E-8E96-B1F82EABC231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Ranks candidate detectors on validation performance.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YOLOv8n is marked as the selected detector.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The ranking explains the first major project decision before edge export.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EBCEADE-472C-4740-BBF8-E36E73EA9993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8B2C9B6-63DD-462B-8B0B-04069237584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5286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5510C5-6E95-49A7-9A44-A5E9E96DEE3E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130404-6CA1-4708-9917-AA1C32DE6A8A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9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Raspberry Pi 5 Inference Speed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3BE98B-3FC5-4E2D-899B-9AEF1B6921DC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EDGE DEPLOYMENT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976" y="1115568"/>
            <a:ext cx="6205367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0E95E2D8-0BE3-4DF7-B8DE-4872CFDE5F41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9B22BFE-949B-4601-ABDA-F2A1D5D86A6E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0E2C6BE-78FC-4793-862F-C4F724403742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CD53EB-87F4-4A8B-929E-4CECDFC3C0F8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Shows FPS and latency for each deployment format on Raspberry Pi 5.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TFLite INT8 reaches 22.62 FPS and 44.1 ms latency.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PyTorch FP32 is much slower at 2.52 FPS.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C52E9E1-E096-44A8-A975-1FA958223721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79C3EE5-D7D1-409A-8F8C-4232CAA5C56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3791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846CF7-BBA7-4879-83EA-8F72E9F0C545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E03859-3B25-49F7-9CF5-4B7861D50013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10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Edge Deployment Accuracy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E45653-B447-4C31-9F40-D73C71F03BDB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EDGE DEPLOYMENT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44" y="1115568"/>
            <a:ext cx="6600831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11E8ACC5-CEE8-439B-9F54-A00EBFCCE56E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68BA223-0346-4CC9-BF2F-E93221248448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DF2009D-3481-4462-928B-64C20E12AB39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3A72C6F-A586-4F15-8F63-47C42E3C6DD7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Compares F1, mAP50 and mAP50-95 after export to edge formats.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PyTorch FP32 keeps the highest accuracy reference.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TFLite INT8 sacrifices some accuracy but remains usable for the proof-of-concept.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5CC6722-85B9-4198-A273-7BA9FDCA6B72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836C48D-4C2D-42AE-9BB3-915BB112E54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7533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33BACF-12AB-416F-8C75-68BDB50CEA63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EDF8D8-DB5D-4135-9425-489D8F91BC80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11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Raspberry Pi Resource &amp; Thermal Usage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062DE0-BA48-45EC-89CE-C4D855AD8CF1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EDGE DEPLOYMENT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7" y="1115568"/>
            <a:ext cx="6483506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D4823EE4-65F1-4A8E-B1DE-0F06A9791030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054E7EE-410F-46B2-ABBD-C536A91C5574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D5128CB-75E0-479E-B789-166B32FCC9CA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C1C9547-D129-4E7D-8722-A15031CB441C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Shows CPU usage, peak RAM and maximum temperature.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TFLite INT8 uses the lowest peak RAM among completed benchmarks.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Temperature stays lower for TFLite INT8 than FP32 and NCNN alternatives.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9FAB3DB-934F-4539-A021-FDC662642B8B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62CA1D5-7E26-4B63-A20E-831BA167D1F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5905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38DAE9-BE1D-4E3B-BFF2-AFEBBA8BAF1F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C41A3E-B677-4359-B098-66EAC0E027FA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Sheet 12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Stability &amp; Final Format Selection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46E30F7-B525-4574-ACFC-D6C60E2F3E14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EDGE DEPLOYMENT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60" y="1115568"/>
            <a:ext cx="6933600" cy="4096512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F749C85D-6589-452E-8EB6-A5DF46FC3F78}"/>
              </a:ext>
            </a:extLst>
          </p:cNvPr>
          <p:cNvSpPr>
            <a:spLocks noGrp="1"/>
          </p:cNvSpPr>
          <p:nvPr/>
        </p:nvSpPr>
        <p:spPr>
          <a:xfrm>
            <a:off x="502920" y="5358384"/>
            <a:ext cx="7269480" cy="73152"/>
          </a:xfrm>
          <a:prstGeom prst="rect">
            <a:avLst/>
          </a:prstGeom>
          <a:solidFill>
            <a:srgbClr val="F58220">
              <a:alpha val="85000"/>
            </a:srgbClr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98DF3D0-D729-403C-AC07-6CA30591AE2F}"/>
              </a:ext>
            </a:extLst>
          </p:cNvPr>
          <p:cNvSpPr>
            <a:spLocks noGrp="1"/>
          </p:cNvSpPr>
          <p:nvPr/>
        </p:nvSpPr>
        <p:spPr>
          <a:xfrm>
            <a:off x="8046720" y="1042416"/>
            <a:ext cx="3657600" cy="52303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1C5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46FF6B0-525B-4011-93A8-FFE56C5AC598}"/>
              </a:ext>
            </a:extLst>
          </p:cNvPr>
          <p:cNvSpPr>
            <a:spLocks noGrp="1"/>
          </p:cNvSpPr>
          <p:nvPr/>
        </p:nvSpPr>
        <p:spPr>
          <a:xfrm>
            <a:off x="8247888" y="1271016"/>
            <a:ext cx="3255264" cy="34747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50" b="1">
                <a:solidFill>
                  <a:srgbClr val="B94F00"/>
                </a:solidFill>
              </a:rPr>
              <a:t>What this sheet explains</a:t>
            </a:r>
            <a:endParaRPr sz="1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FD69BBF-334C-4889-B68A-63F1D5B2B4EA}"/>
              </a:ext>
            </a:extLst>
          </p:cNvPr>
          <p:cNvSpPr>
            <a:spLocks noGrp="1"/>
          </p:cNvSpPr>
          <p:nvPr/>
        </p:nvSpPr>
        <p:spPr>
          <a:xfrm>
            <a:off x="8321040" y="1792224"/>
            <a:ext cx="3154680" cy="315468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Combines reliability categories with final format selection.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TFLite INT8 is highlighted as the final winner.</a:t>
            </a:r>
          </a:p>
          <a:p>
            <a:pPr>
              <a:buSzPct val="100000"/>
              <a:buNone/>
            </a:pPr>
            <a:endParaRPr/>
          </a:p>
          <a:p>
            <a:pPr marL="127000" indent="-127000">
              <a:buSzPct val="100000"/>
              <a:buChar char="•"/>
            </a:pPr>
            <a:r>
              <a:rPr>
                <a:solidFill>
                  <a:srgbClr val="2B2118"/>
                </a:solidFill>
              </a:rPr>
              <a:t>ONNX failed benchmarking, and NCNN FP32 failed continuous testing.</a:t>
            </a:r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4323FED-63FB-459C-ABE0-2DBE9642E440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97B649B-BD0E-48AE-B5CF-946F558D6E9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9371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D84D34-75DF-48DB-8C87-BABC3615DFF0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A4CE1E-4335-4CD9-800F-C28B953E67FC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Dashboard 1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Dataset Preparation Overview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D75315-1A68-4598-A2F9-49BE10DAE5DB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850" dirty="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712" y="941832"/>
            <a:ext cx="9182937" cy="53492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EECECD1F-88EB-4CAE-891E-6CBB501C54BC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E42F85E-FB99-4B0D-A7D0-CBBF78BE0D2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8000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8A6CC5-393A-4749-A2F5-0CB45C744A6A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DC53ED-EF32-446B-847A-EEA56395C432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Dashboard 1 Explanation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Dataset Readiness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FECEA1-8B9C-4EFF-836B-D1C4E3511538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9E8B1B6-73A5-4923-B110-A4337E9EDCB0}"/>
              </a:ext>
            </a:extLst>
          </p:cNvPr>
          <p:cNvSpPr>
            <a:spLocks noGrp="1"/>
          </p:cNvSpPr>
          <p:nvPr/>
        </p:nvSpPr>
        <p:spPr>
          <a:xfrm>
            <a:off x="594360" y="1218438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CAAA111-9B52-45FB-8172-F7DA0A6372B2}"/>
              </a:ext>
            </a:extLst>
          </p:cNvPr>
          <p:cNvSpPr>
            <a:spLocks noGrp="1"/>
          </p:cNvSpPr>
          <p:nvPr/>
        </p:nvSpPr>
        <p:spPr>
          <a:xfrm>
            <a:off x="640080" y="1721358"/>
            <a:ext cx="10744200" cy="400050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448 images are split into 313 train, 45 validation and 90 untouched test images; only training data is fitted.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706 labeled rocks cover two classes; training labels are near-even at 259 exposed and 250 half buried.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Train-only augmentation adds 1,878 variants, expanding 313 originals to 2,191 training images.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Validation and test remain </a:t>
            </a:r>
            <a:r>
              <a:rPr dirty="0" err="1">
                <a:solidFill>
                  <a:srgbClr val="2B2118"/>
                </a:solidFill>
              </a:rPr>
              <a:t>unaugmented</a:t>
            </a:r>
            <a:r>
              <a:rPr dirty="0">
                <a:solidFill>
                  <a:srgbClr val="2B2118"/>
                </a:solidFill>
              </a:rPr>
              <a:t>, limiting leakage and keeping evaluation independent.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Result: later model comparisons rest on balanced, reproducible data.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8FDAB4C-DDB8-4285-8093-407D0B7BF11F}"/>
              </a:ext>
            </a:extLst>
          </p:cNvPr>
          <p:cNvSpPr>
            <a:spLocks noGrp="1"/>
          </p:cNvSpPr>
          <p:nvPr/>
        </p:nvSpPr>
        <p:spPr>
          <a:xfrm>
            <a:off x="822960" y="5049774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10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D56DC01-B8E0-40E6-8F07-E7EB5E29ABEC}"/>
              </a:ext>
            </a:extLst>
          </p:cNvPr>
          <p:cNvSpPr>
            <a:spLocks noGrp="1"/>
          </p:cNvSpPr>
          <p:nvPr/>
        </p:nvSpPr>
        <p:spPr>
          <a:xfrm>
            <a:off x="822960" y="5305806"/>
            <a:ext cx="4892040" cy="32004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8DC3352-F69E-4CF4-8CEF-9341521048A2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5551B90-CE9E-45F4-A00B-129D69E9FC9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892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C4789D-48A0-4CA4-BA3A-46F2EE83C2B0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877B1D-F247-4B94-B0C0-40208F6D516B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Dashboard 2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 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YOLO Model Selection Overview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14FD45-38D1-4711-A071-9546B29C14AB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850" dirty="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712" y="941832"/>
            <a:ext cx="9182937" cy="53492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E5D6BB06-A94E-4F82-A7EF-632625C2B282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27609B2-2551-43EB-9F46-A613AFF772A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5636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47B868-C02D-42F7-8468-A474295F92F9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49E217-901F-4F09-8939-B7A60CD52BDF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Dashboard 2 Explanation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Detector Choice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04EC0B-EBDB-4AF4-BEF1-670A4B9C4139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1553A47-46DD-4FC5-B3AA-E105357978FC}"/>
              </a:ext>
            </a:extLst>
          </p:cNvPr>
          <p:cNvSpPr>
            <a:spLocks noGrp="1"/>
          </p:cNvSpPr>
          <p:nvPr/>
        </p:nvSpPr>
        <p:spPr>
          <a:xfrm>
            <a:off x="594360" y="1163574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BAB1E72-B5E7-4741-B360-FBE1B5D3713B}"/>
              </a:ext>
            </a:extLst>
          </p:cNvPr>
          <p:cNvSpPr>
            <a:spLocks noGrp="1"/>
          </p:cNvSpPr>
          <p:nvPr/>
        </p:nvSpPr>
        <p:spPr>
          <a:xfrm>
            <a:off x="640080" y="1666494"/>
            <a:ext cx="10515600" cy="400050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Three candidates</a:t>
            </a:r>
            <a:r>
              <a:rPr lang="en-US" dirty="0">
                <a:solidFill>
                  <a:srgbClr val="2B2118"/>
                </a:solidFill>
              </a:rPr>
              <a:t> </a:t>
            </a:r>
            <a:r>
              <a:rPr dirty="0">
                <a:solidFill>
                  <a:srgbClr val="2B2118"/>
                </a:solidFill>
              </a:rPr>
              <a:t>YOLOv8n, YOLO11n and YOLO11s</a:t>
            </a:r>
            <a:r>
              <a:rPr lang="en-US" dirty="0">
                <a:solidFill>
                  <a:srgbClr val="2B2118"/>
                </a:solidFill>
              </a:rPr>
              <a:t> </a:t>
            </a:r>
            <a:r>
              <a:rPr dirty="0">
                <a:solidFill>
                  <a:srgbClr val="2B2118"/>
                </a:solidFill>
              </a:rPr>
              <a:t>are compared on validation and untouched test data.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Precision and recall track false alarms and misses; F1 balances both, and mAP50-95 tests stricter localization.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YOLOv8n ranks first on validation mAP50-95 (0.429), even though YOLO11s leads some looser headline metrics</a:t>
            </a:r>
            <a:r>
              <a:rPr lang="en-US" dirty="0">
                <a:solidFill>
                  <a:srgbClr val="2B2118"/>
                </a:solidFill>
              </a:rPr>
              <a:t>.</a:t>
            </a: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YOLOv8n is also compact and records the fastest measured detector benchmark.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Selection uses validation before test review, preserving an independent generalization check.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6215A60-6C1F-4489-869A-DEB8E2747954}"/>
              </a:ext>
            </a:extLst>
          </p:cNvPr>
          <p:cNvSpPr>
            <a:spLocks noGrp="1"/>
          </p:cNvSpPr>
          <p:nvPr/>
        </p:nvSpPr>
        <p:spPr>
          <a:xfrm>
            <a:off x="822960" y="4994910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10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4F1E1BF-56BD-49A4-BB89-8B6E583C7FE2}"/>
              </a:ext>
            </a:extLst>
          </p:cNvPr>
          <p:cNvSpPr>
            <a:spLocks noGrp="1"/>
          </p:cNvSpPr>
          <p:nvPr/>
        </p:nvSpPr>
        <p:spPr>
          <a:xfrm>
            <a:off x="822960" y="5250942"/>
            <a:ext cx="4892040" cy="32004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348D7D3-E6E2-40A4-B4D1-D2F496E1DDB1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FD6B8F3-8A50-4A42-91F6-D3184677EDB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0541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8A4E07-D3F1-499D-86C0-BF868C8E4061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D2AE15-5DE0-4202-8CE8-5F0EE34A6273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Dashboard 3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Raspberry Pi Edge Deployment Overview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575AE3-C7DE-43D7-B6DC-FFBF06CDCE05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B94F00"/>
                </a:solidFill>
              </a:rPr>
              <a:t>FULL DASHBOARD</a:t>
            </a:r>
            <a:endParaRPr sz="850"/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712" y="941832"/>
            <a:ext cx="9182937" cy="53492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A7EB9DD-A3A2-4070-BD56-85962F28D736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BD2A9C9-77A1-4EBF-8C8D-D08F8BB6446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7351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7AC996-2FE2-4CCA-A8BE-6C1A43F99888}"/>
              </a:ext>
            </a:extLst>
          </p:cNvPr>
          <p:cNvSpPr>
            <a:spLocks noGrp="1"/>
          </p:cNvSpPr>
          <p:nvPr/>
        </p:nvSpPr>
        <p:spPr>
          <a:xfrm>
            <a:off x="411480" y="292608"/>
            <a:ext cx="73152" cy="41148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90F661-F552-428C-9564-6B459DDF6E1E}"/>
              </a:ext>
            </a:extLst>
          </p:cNvPr>
          <p:cNvSpPr>
            <a:spLocks noGrp="1"/>
          </p:cNvSpPr>
          <p:nvPr/>
        </p:nvSpPr>
        <p:spPr>
          <a:xfrm>
            <a:off x="594360" y="182880"/>
            <a:ext cx="10744200" cy="41148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Dashboard 3 Explanation </a:t>
            </a:r>
            <a:r>
              <a:rPr lang="en-US"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-</a:t>
            </a:r>
            <a:r>
              <a:rPr sz="2400" b="1" dirty="0">
                <a:solidFill>
                  <a:srgbClr val="2B2118"/>
                </a:solidFill>
                <a:latin typeface="Aptos Display"/>
                <a:ea typeface="Aptos Display"/>
                <a:cs typeface="Aptos Display"/>
              </a:rPr>
              <a:t> Final Edge Format</a:t>
            </a:r>
            <a:endParaRPr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08B76C-1FB7-4186-95FD-07A094CA1B0E}"/>
              </a:ext>
            </a:extLst>
          </p:cNvPr>
          <p:cNvSpPr>
            <a:spLocks noGrp="1"/>
          </p:cNvSpPr>
          <p:nvPr/>
        </p:nvSpPr>
        <p:spPr>
          <a:xfrm>
            <a:off x="594360" y="621792"/>
            <a:ext cx="10744200" cy="25603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889ACBA-D0AF-46B3-A659-E6E3A0074D57}"/>
              </a:ext>
            </a:extLst>
          </p:cNvPr>
          <p:cNvSpPr>
            <a:spLocks noGrp="1"/>
          </p:cNvSpPr>
          <p:nvPr/>
        </p:nvSpPr>
        <p:spPr>
          <a:xfrm>
            <a:off x="594360" y="1383030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2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AC8EE82-0DEA-4532-8EEE-86C840230236}"/>
              </a:ext>
            </a:extLst>
          </p:cNvPr>
          <p:cNvSpPr>
            <a:spLocks noGrp="1"/>
          </p:cNvSpPr>
          <p:nvPr/>
        </p:nvSpPr>
        <p:spPr>
          <a:xfrm>
            <a:off x="594360" y="1469898"/>
            <a:ext cx="10907486" cy="4000500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The same YOLOv8n and 90-image, 640 × 640 benchmark isolate export-format effects.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2B2118"/>
                </a:solidFill>
              </a:rPr>
              <a:t>TFLite</a:t>
            </a:r>
            <a:r>
              <a:rPr dirty="0">
                <a:solidFill>
                  <a:srgbClr val="2B2118"/>
                </a:solidFill>
              </a:rPr>
              <a:t> INT8 leads at 22.62 FPS, 44.13 </a:t>
            </a:r>
            <a:r>
              <a:rPr dirty="0" err="1">
                <a:solidFill>
                  <a:srgbClr val="2B2118"/>
                </a:solidFill>
              </a:rPr>
              <a:t>ms</a:t>
            </a:r>
            <a:r>
              <a:rPr dirty="0">
                <a:solidFill>
                  <a:srgbClr val="2B2118"/>
                </a:solidFill>
              </a:rPr>
              <a:t> mean latency and 824.22 MB peak RAM.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That is 8.99× </a:t>
            </a:r>
            <a:r>
              <a:rPr dirty="0" err="1">
                <a:solidFill>
                  <a:srgbClr val="2B2118"/>
                </a:solidFill>
              </a:rPr>
              <a:t>PyTorch</a:t>
            </a:r>
            <a:r>
              <a:rPr dirty="0">
                <a:solidFill>
                  <a:srgbClr val="2B2118"/>
                </a:solidFill>
              </a:rPr>
              <a:t> speed while retaining 91.8% of mAP50 (0.503 versus 0.548).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It alone passed the two-minute continuous test: about 2,533 inferences, no reboot or recorded throttling.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>
                <a:solidFill>
                  <a:srgbClr val="2B2118"/>
                </a:solidFill>
              </a:rPr>
              <a:t>Caveat: the run reached about 76 °C without an Active Cooler; longer tests were not attempted.</a:t>
            </a:r>
            <a:endParaRPr lang="en-US" dirty="0">
              <a:solidFill>
                <a:srgbClr val="2B2118"/>
              </a:solidFill>
            </a:endParaRPr>
          </a:p>
          <a:p>
            <a:pPr>
              <a:buSzPct val="100000"/>
            </a:pPr>
            <a:endParaRPr dirty="0">
              <a:solidFill>
                <a:srgbClr val="2B2118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2B2118"/>
                </a:solidFill>
              </a:rPr>
              <a:t>TFLite</a:t>
            </a:r>
            <a:r>
              <a:rPr dirty="0">
                <a:solidFill>
                  <a:srgbClr val="2B2118"/>
                </a:solidFill>
              </a:rPr>
              <a:t> INT8 wins the proof-of-concept; NCNN FP16 remains the accuracy-speed research alternative.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F50CCF7-8484-4680-AE8B-5B86DA8C55CA}"/>
              </a:ext>
            </a:extLst>
          </p:cNvPr>
          <p:cNvSpPr>
            <a:spLocks noGrp="1"/>
          </p:cNvSpPr>
          <p:nvPr/>
        </p:nvSpPr>
        <p:spPr>
          <a:xfrm>
            <a:off x="822960" y="5214366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10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488D159-1922-47E7-AA3F-D1DF9066662F}"/>
              </a:ext>
            </a:extLst>
          </p:cNvPr>
          <p:cNvSpPr>
            <a:spLocks noGrp="1"/>
          </p:cNvSpPr>
          <p:nvPr/>
        </p:nvSpPr>
        <p:spPr>
          <a:xfrm>
            <a:off x="822960" y="5470398"/>
            <a:ext cx="4892040" cy="320040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>
              <a:buNone/>
            </a:pPr>
            <a:endParaRPr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F5ADB9E-2080-43C0-93A7-021A7124B020}"/>
              </a:ext>
            </a:extLst>
          </p:cNvPr>
          <p:cNvSpPr>
            <a:spLocks noGrp="1"/>
          </p:cNvSpPr>
          <p:nvPr/>
        </p:nvSpPr>
        <p:spPr>
          <a:xfrm>
            <a:off x="438912" y="6565392"/>
            <a:ext cx="8686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3CD3971-F4C4-4CAE-B077-8DCA8F5490B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384280" y="658368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9B6A4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907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</Words>
  <Application>Microsoft Macintosh PowerPoint</Application>
  <DocSecurity>0</DocSecurity>
  <PresentationFormat>Widescreen</PresentationFormat>
  <Paragraphs>167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Tanishk Shinde</cp:lastModifiedBy>
  <cp:revision>1</cp:revision>
  <dcterms:created xsi:type="dcterms:W3CDTF">2026-08-10T22:16:09Z</dcterms:created>
  <dcterms:modified xsi:type="dcterms:W3CDTF">2026-08-10T22:25:54Z</dcterms:modified>
</cp:coreProperties>
</file>